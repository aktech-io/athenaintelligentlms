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80960" y="-1463040"/>
            <a:ext cx="6400800" cy="6400800"/>
          </a:xfrm>
          <a:prstGeom prst="ellipse">
            <a:avLst/>
          </a:prstGeom>
          <a:solidFill>
            <a:srgbClr val="0A2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076706"/>
            <a:ext cx="50292" cy="201168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051560"/>
            <a:ext cx="50292" cy="251460"/>
          </a:xfrm>
          <a:prstGeom prst="roundRect">
            <a:avLst>
              <a:gd name="adj" fmla="val 50000"/>
            </a:avLst>
          </a:prstGeom>
          <a:solidFill>
            <a:srgbClr val="F2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096822"/>
            <a:ext cx="50292" cy="160934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037844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A3D"/>
                </a:solidFill>
                <a:latin typeface="Century Gothic"/>
              </a:rPr>
              <a:t>CONFIDENTIAL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7315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1">
                <a:solidFill>
                  <a:srgbClr val="F2F7F5"/>
                </a:solidFill>
                <a:latin typeface="Century Gothic"/>
              </a:rPr>
              <a:t>NEMO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988819"/>
            <a:ext cx="109728" cy="96012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52544" y="1874519"/>
            <a:ext cx="109728" cy="1188720"/>
          </a:xfrm>
          <a:prstGeom prst="roundRect">
            <a:avLst>
              <a:gd name="adj" fmla="val 50000"/>
            </a:avLst>
          </a:prstGeom>
          <a:solidFill>
            <a:srgbClr val="F2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44568" y="2080260"/>
            <a:ext cx="109728" cy="77724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154680"/>
            <a:ext cx="6035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2F7F5"/>
                </a:solidFill>
                <a:latin typeface="Calibri"/>
              </a:rPr>
              <a:t>Neobank in a box. </a:t>
            </a:r>
            <a:r>
              <a:rPr sz="2000" b="0">
                <a:solidFill>
                  <a:srgbClr val="8FAEAB"/>
                </a:solidFill>
                <a:latin typeface="Calibri"/>
              </a:rPr>
              <a:t>Everything needed to launch and run a digital bank — deployed in a day, on any cloud or on-premise, operated by AI.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06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FAEAB"/>
                </a:solidFill>
                <a:latin typeface="Century Gothic"/>
              </a:rPr>
              <a:t>CORE BANKING      LENDING      PAYMENTS      CARDS      COMPLIANCE      AI OPERATIONS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1051560"/>
            <a:ext cx="2514600" cy="5120640"/>
          </a:xfrm>
          <a:prstGeom prst="roundRect">
            <a:avLst>
              <a:gd name="adj" fmla="val 18000"/>
            </a:avLst>
          </a:prstGeom>
          <a:solidFill>
            <a:srgbClr val="02161D"/>
          </a:solidFill>
          <a:ln w="9525">
            <a:solidFill>
              <a:srgbClr val="8FAE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18320" y="1179576"/>
            <a:ext cx="777240" cy="146304"/>
          </a:xfrm>
          <a:prstGeom prst="roundRect">
            <a:avLst>
              <a:gd name="adj" fmla="val 50000"/>
            </a:avLst>
          </a:prstGeom>
          <a:solidFill>
            <a:srgbClr val="0A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750808" y="1554480"/>
            <a:ext cx="2112264" cy="1051560"/>
          </a:xfrm>
          <a:prstGeom prst="roundRect">
            <a:avLst>
              <a:gd name="adj" fmla="val 14000"/>
            </a:avLst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97112" y="1673352"/>
            <a:ext cx="1828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FFE2D6"/>
                </a:solidFill>
                <a:latin typeface="Century Gothic"/>
              </a:rPr>
              <a:t>MAIN ACCOUNT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entury Gothic"/>
              </a:rPr>
              <a:t>KES 48,250.75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E2D6"/>
                </a:solidFill>
                <a:latin typeface="Calibri"/>
              </a:rPr>
              <a:t>Nemo Current ·· 4417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69096" y="2788920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104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14232" y="3264408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>
                <a:solidFill>
                  <a:srgbClr val="8FAEAB"/>
                </a:solidFill>
                <a:latin typeface="Calibri"/>
              </a:rPr>
              <a:t>Send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17736" y="2788920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104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2872" y="3264408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>
                <a:solidFill>
                  <a:srgbClr val="8FAEAB"/>
                </a:solidFill>
                <a:latin typeface="Calibri"/>
              </a:rPr>
              <a:t>Pay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66376" y="2788920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104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11512" y="3264408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>
                <a:solidFill>
                  <a:srgbClr val="8FAEAB"/>
                </a:solidFill>
                <a:latin typeface="Calibri"/>
              </a:rPr>
              <a:t>Save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15016" y="2788920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104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60151" y="3264408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>
                <a:solidFill>
                  <a:srgbClr val="8FAEAB"/>
                </a:solidFill>
                <a:latin typeface="Calibri"/>
              </a:rPr>
              <a:t>Borrow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50808" y="3611880"/>
            <a:ext cx="2112264" cy="777240"/>
          </a:xfrm>
          <a:prstGeom prst="roundRect">
            <a:avLst>
              <a:gd name="adj" fmla="val 14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97112" y="3721608"/>
            <a:ext cx="1828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2F7F5"/>
                </a:solidFill>
                <a:latin typeface="Century Gothic"/>
              </a:rPr>
              <a:t>Boda fund</a:t>
            </a:r>
            <a:r>
              <a:rPr sz="900" b="0">
                <a:solidFill>
                  <a:srgbClr val="5BC4B4"/>
                </a:solidFill>
                <a:latin typeface="Calibri"/>
              </a:rPr>
              <a:t>        64%</a:t>
            </a:r>
          </a:p>
          <a:p>
            <a:pPr algn="l">
              <a:spcAft>
                <a:spcPts val="300"/>
              </a:spcAft>
            </a:pPr>
            <a:r>
              <a:rPr sz="750" b="0">
                <a:solidFill>
                  <a:srgbClr val="8FAEAB"/>
                </a:solidFill>
                <a:latin typeface="Calibri"/>
              </a:rPr>
              <a:t>KES 32,000 of 50,000 · round-ups 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97112" y="4050792"/>
            <a:ext cx="1819656" cy="54864"/>
          </a:xfrm>
          <a:prstGeom prst="roundRect">
            <a:avLst>
              <a:gd name="adj" fmla="val 50000"/>
            </a:avLst>
          </a:prstGeom>
          <a:solidFill>
            <a:srgbClr val="2A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897112" y="4050792"/>
            <a:ext cx="1161288" cy="54864"/>
          </a:xfrm>
          <a:prstGeom prst="roundRect">
            <a:avLst>
              <a:gd name="adj" fmla="val 50000"/>
            </a:avLst>
          </a:prstGeom>
          <a:solidFill>
            <a:srgbClr val="5B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87384" y="457200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F2F7F5"/>
                </a:solidFill>
                <a:latin typeface="Calibri"/>
              </a:rPr>
              <a:t>M-Pesa top-up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4120" y="45720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5BC4B4"/>
                </a:solidFill>
                <a:latin typeface="Calibri"/>
              </a:rPr>
              <a:t>+2,000.00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87384" y="495604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F2F7F5"/>
                </a:solidFill>
                <a:latin typeface="Calibri"/>
              </a:rPr>
              <a:t>Nairobi Water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20" y="49560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8FAEAB"/>
                </a:solidFill>
                <a:latin typeface="Calibri"/>
              </a:rPr>
              <a:t>−850.00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87384" y="534009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F2F7F5"/>
                </a:solidFill>
                <a:latin typeface="Calibri"/>
              </a:rPr>
              <a:t>Round-up → Boda fund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534009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8FAEAB"/>
                </a:solidFill>
                <a:latin typeface="Calibri"/>
              </a:rPr>
              <a:t>−12.50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37215" y="63550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FAEAB"/>
                </a:solidFill>
                <a:latin typeface="Century Gothic"/>
              </a:rP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28066"/>
            <a:ext cx="50292" cy="201168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02920"/>
            <a:ext cx="50292" cy="251460"/>
          </a:xfrm>
          <a:prstGeom prst="roundRect">
            <a:avLst>
              <a:gd name="adj" fmla="val 50000"/>
            </a:avLst>
          </a:prstGeom>
          <a:solidFill>
            <a:srgbClr val="F2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548182"/>
            <a:ext cx="50292" cy="160934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489204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A3D"/>
                </a:solidFill>
                <a:latin typeface="Century Gothic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2F7F5"/>
                </a:solidFill>
                <a:latin typeface="Century Gothic"/>
              </a:rPr>
              <a:t>Launching a digital bank still takes years and tens of millions — </a:t>
            </a:r>
            <a:r>
              <a:rPr sz="3200" b="1">
                <a:solidFill>
                  <a:srgbClr val="FF6A3D"/>
                </a:solidFill>
                <a:latin typeface="Century Gothic"/>
              </a:rPr>
              <a:t>especially where it's needed most.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3502152" cy="2926080"/>
          </a:xfrm>
          <a:prstGeom prst="roundRect">
            <a:avLst>
              <a:gd name="adj" fmla="val 6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944368"/>
            <a:ext cx="3099816" cy="2523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5BC4B4"/>
                </a:solidFill>
                <a:latin typeface="Century Gothic"/>
              </a:rPr>
              <a:t>BUILD IT YOURSELF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2F7F5"/>
                </a:solidFill>
                <a:latin typeface="Century Gothic"/>
              </a:rPr>
              <a:t>3–5 years, $10M+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8FAEAB"/>
                </a:solidFill>
                <a:latin typeface="Calibri"/>
              </a:rPr>
              <a:t>Core ledger, compliance, fraud, apps — before the first customer. Most attempts die in integration.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2743200"/>
            <a:ext cx="3502152" cy="2926080"/>
          </a:xfrm>
          <a:prstGeom prst="roundRect">
            <a:avLst>
              <a:gd name="adj" fmla="val 6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2944368"/>
            <a:ext cx="3099816" cy="2523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5BC4B4"/>
                </a:solidFill>
                <a:latin typeface="Century Gothic"/>
              </a:rPr>
              <a:t>BUY A SAAS CORE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2F7F5"/>
                </a:solidFill>
                <a:latin typeface="Century Gothic"/>
              </a:rPr>
              <a:t>A core is not a bank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8FAEAB"/>
                </a:solidFill>
                <a:latin typeface="Calibri"/>
              </a:rPr>
              <a:t>Mambu-class platforms ship a ledger, then hand you to system integrators for 6–18 months. No app, no ops, no market fit.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9288" y="2743200"/>
            <a:ext cx="3502152" cy="2926080"/>
          </a:xfrm>
          <a:prstGeom prst="roundRect">
            <a:avLst>
              <a:gd name="adj" fmla="val 6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0456" y="2944368"/>
            <a:ext cx="3099816" cy="2523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5BC4B4"/>
                </a:solidFill>
                <a:latin typeface="Century Gothic"/>
              </a:rPr>
              <a:t>EMERGING-MARKET REALITY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2F7F5"/>
                </a:solidFill>
                <a:latin typeface="Century Gothic"/>
              </a:rPr>
              <a:t>Global stacks don't fit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8FAEAB"/>
                </a:solidFill>
                <a:latin typeface="Calibri"/>
              </a:rPr>
              <a:t>Mobile money rails, credit bureaus, local regulators and data-residency law are afterthoughts in Western platforms.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37215" y="63550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FAEAB"/>
                </a:solidFill>
                <a:latin typeface="Century Gothic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28066"/>
            <a:ext cx="50292" cy="201168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02920"/>
            <a:ext cx="50292" cy="251460"/>
          </a:xfrm>
          <a:prstGeom prst="roundRect">
            <a:avLst>
              <a:gd name="adj" fmla="val 50000"/>
            </a:avLst>
          </a:prstGeom>
          <a:solidFill>
            <a:srgbClr val="F2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548182"/>
            <a:ext cx="50292" cy="160934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489204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A3D"/>
                </a:solidFill>
                <a:latin typeface="Century Gothic"/>
              </a:rPr>
              <a:t>THE MODEL IS PROVEN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2F7F5"/>
                </a:solidFill>
                <a:latin typeface="Century Gothic"/>
              </a:rPr>
              <a:t>Credit-led neobanks work in emerging markets. </a:t>
            </a:r>
            <a:r>
              <a:rPr sz="3200" b="1">
                <a:solidFill>
                  <a:srgbClr val="5BC4B4"/>
                </a:solidFill>
                <a:latin typeface="Century Gothic"/>
              </a:rPr>
              <a:t>Nobody sells the box.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8FAEAB"/>
                </a:solidFill>
                <a:latin typeface="Calibri"/>
              </a:rPr>
              <a:t>Fintech Farm (Leobank, Liobank, Simbank, Roarbank) proved the formula across six markets: partner with a licensed local bank, ship an app customers love, grow on AI-underwritten credit. But they operate each neobank themselves — the playbook doesn't scale beyond their own ventures.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566160"/>
            <a:ext cx="3502152" cy="2377440"/>
          </a:xfrm>
          <a:prstGeom prst="roundRect">
            <a:avLst>
              <a:gd name="adj" fmla="val 6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3767328"/>
            <a:ext cx="3099816" cy="1975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2F7F5"/>
                </a:solidFill>
                <a:latin typeface="Century Gothic"/>
              </a:rPr>
              <a:t>1M+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8FAEAB"/>
                </a:solidFill>
                <a:latin typeface="Calibri"/>
              </a:rPr>
              <a:t>customers on Liobank Vietnam within two years of launch</a:t>
            </a:r>
          </a:p>
          <a:p>
            <a:pPr algn="l">
              <a:spcAft>
                <a:spcPts val="600"/>
              </a:spcAft>
            </a:pPr>
            <a:r>
              <a:rPr sz="900" b="0">
                <a:solidFill>
                  <a:srgbClr val="8FAEAB"/>
                </a:solidFill>
                <a:latin typeface="Calibri"/>
              </a:rPr>
              <a:t>fintech-farm.com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3566160"/>
            <a:ext cx="3502152" cy="2377440"/>
          </a:xfrm>
          <a:prstGeom prst="roundRect">
            <a:avLst>
              <a:gd name="adj" fmla="val 6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3767328"/>
            <a:ext cx="3099816" cy="1975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2F7F5"/>
                </a:solidFill>
                <a:latin typeface="Century Gothic"/>
              </a:rPr>
              <a:t>6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8FAEAB"/>
                </a:solidFill>
                <a:latin typeface="Calibri"/>
              </a:rPr>
              <a:t>markets launched on one repeatable stack — Azerbaijan to Morocco</a:t>
            </a:r>
          </a:p>
          <a:p>
            <a:pPr algn="l">
              <a:spcAft>
                <a:spcPts val="600"/>
              </a:spcAft>
            </a:pPr>
            <a:r>
              <a:rPr sz="900" b="0">
                <a:solidFill>
                  <a:srgbClr val="8FAEAB"/>
                </a:solidFill>
                <a:latin typeface="Calibri"/>
              </a:rPr>
              <a:t>fintech-farm.com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9288" y="3566160"/>
            <a:ext cx="3502152" cy="2377440"/>
          </a:xfrm>
          <a:prstGeom prst="roundRect">
            <a:avLst>
              <a:gd name="adj" fmla="val 6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0456" y="3767328"/>
            <a:ext cx="3099816" cy="1975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2F7F5"/>
                </a:solidFill>
                <a:latin typeface="Century Gothic"/>
              </a:rPr>
              <a:t>0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8FAEAB"/>
                </a:solidFill>
                <a:latin typeface="Calibri"/>
              </a:rPr>
              <a:t>vendors offering that full stack as a product an operator can run themselves</a:t>
            </a:r>
          </a:p>
          <a:p>
            <a:pPr algn="l">
              <a:spcAft>
                <a:spcPts val="600"/>
              </a:spcAft>
            </a:pPr>
            <a:r>
              <a:rPr sz="900" b="0">
                <a:solidFill>
                  <a:srgbClr val="8FAEAB"/>
                </a:solidFill>
                <a:latin typeface="Calibri"/>
              </a:rPr>
              <a:t>the gap Nemo fills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3550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FAEAB"/>
                </a:solidFill>
                <a:latin typeface="Century Gothic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28066"/>
            <a:ext cx="50292" cy="201168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02920"/>
            <a:ext cx="50292" cy="251460"/>
          </a:xfrm>
          <a:prstGeom prst="roundRect">
            <a:avLst>
              <a:gd name="adj" fmla="val 50000"/>
            </a:avLst>
          </a:prstGeom>
          <a:solidFill>
            <a:srgbClr val="F2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548182"/>
            <a:ext cx="50292" cy="160934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489204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A3D"/>
                </a:solidFill>
                <a:latin typeface="Century Gothic"/>
              </a:rPr>
              <a:t>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2F7F5"/>
                </a:solidFill>
                <a:latin typeface="Century Gothic"/>
              </a:rPr>
              <a:t>Nemo is the whole bank, </a:t>
            </a:r>
            <a:r>
              <a:rPr sz="3200" b="1">
                <a:solidFill>
                  <a:srgbClr val="FF6A3D"/>
                </a:solidFill>
                <a:latin typeface="Century Gothic"/>
              </a:rPr>
              <a:t>in one box.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2606040" cy="1572768"/>
          </a:xfrm>
          <a:prstGeom prst="roundRect">
            <a:avLst>
              <a:gd name="adj" fmla="val 7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468880"/>
            <a:ext cx="2276856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BC4B4"/>
                </a:solidFill>
                <a:latin typeface="Century Gothic"/>
              </a:rPr>
              <a:t>CORE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8FAEAB"/>
                </a:solidFill>
                <a:latin typeface="Calibri"/>
              </a:rPr>
              <a:t>Current, savings, wallet &amp; term deposits, interest engines, double-entry GL (IFRS 9, maker-checker, tamper-evident audit).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2331720"/>
            <a:ext cx="2606040" cy="1572768"/>
          </a:xfrm>
          <a:prstGeom prst="roundRect">
            <a:avLst>
              <a:gd name="adj" fmla="val 7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468880"/>
            <a:ext cx="2276856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BC4B4"/>
                </a:solidFill>
                <a:latin typeface="Century Gothic"/>
              </a:rPr>
              <a:t>CREDIT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8FAEAB"/>
                </a:solidFill>
                <a:latin typeface="Calibri"/>
              </a:rPr>
              <a:t>Product factory → origination → schedules, penalties, collections, write-off. Overdrafts and BNPL included.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2331720"/>
            <a:ext cx="2606040" cy="1572768"/>
          </a:xfrm>
          <a:prstGeom prst="roundRect">
            <a:avLst>
              <a:gd name="adj" fmla="val 7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468880"/>
            <a:ext cx="2276856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BC4B4"/>
                </a:solidFill>
                <a:latin typeface="Century Gothic"/>
              </a:rPr>
              <a:t>PAYMENTS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8FAEAB"/>
                </a:solidFill>
                <a:latin typeface="Calibri"/>
              </a:rPr>
              <a:t>Mobile-money-native transfers, P2P by phone number, bills &amp; airtime, cards via issuer processors.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70264" y="2331720"/>
            <a:ext cx="2606040" cy="1572768"/>
          </a:xfrm>
          <a:prstGeom prst="roundRect">
            <a:avLst>
              <a:gd name="adj" fmla="val 7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34856" y="2468880"/>
            <a:ext cx="2276856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BC4B4"/>
                </a:solidFill>
                <a:latin typeface="Century Gothic"/>
              </a:rPr>
              <a:t>RISK &amp; AI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8FAEAB"/>
                </a:solidFill>
                <a:latin typeface="Calibri"/>
              </a:rPr>
              <a:t>AI credit scoring, ML fraud detection with case management, AML monitoring and SAR workflows.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059936"/>
            <a:ext cx="2606040" cy="1572768"/>
          </a:xfrm>
          <a:prstGeom prst="roundRect">
            <a:avLst>
              <a:gd name="adj" fmla="val 7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197096"/>
            <a:ext cx="2276856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BC4B4"/>
                </a:solidFill>
                <a:latin typeface="Century Gothic"/>
              </a:rPr>
              <a:t>COMPLIANCE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8FAEAB"/>
                </a:solidFill>
                <a:latin typeface="Calibri"/>
              </a:rPr>
              <a:t>Regulatory reporting per market — central-bank returns, credit-bureau submissions, data protection.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47288" y="4059936"/>
            <a:ext cx="2606040" cy="1572768"/>
          </a:xfrm>
          <a:prstGeom prst="roundRect">
            <a:avLst>
              <a:gd name="adj" fmla="val 7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80" y="4197096"/>
            <a:ext cx="2276856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BC4B4"/>
                </a:solidFill>
                <a:latin typeface="Century Gothic"/>
              </a:rPr>
              <a:t>CHANNELS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8FAEAB"/>
                </a:solidFill>
                <a:latin typeface="Calibri"/>
              </a:rPr>
              <a:t>White-label customer app, web banking, USSD and agent network, plus the staff back-office console.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4059936"/>
            <a:ext cx="2606040" cy="1572768"/>
          </a:xfrm>
          <a:prstGeom prst="roundRect">
            <a:avLst>
              <a:gd name="adj" fmla="val 7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4197096"/>
            <a:ext cx="2276856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BC4B4"/>
                </a:solidFill>
                <a:latin typeface="Century Gothic"/>
              </a:rPr>
              <a:t>TREASURY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8FAEAB"/>
                </a:solidFill>
                <a:latin typeface="Calibri"/>
              </a:rPr>
              <a:t>Float management, reconciliation against every rail, settlement with the partner bank.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0264" y="4059936"/>
            <a:ext cx="2606040" cy="1572768"/>
          </a:xfrm>
          <a:prstGeom prst="roundRect">
            <a:avLst>
              <a:gd name="adj" fmla="val 7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4856" y="4197096"/>
            <a:ext cx="2276856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BC4B4"/>
                </a:solidFill>
                <a:latin typeface="Century Gothic"/>
              </a:rPr>
              <a:t>OPERATIONS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8FAEAB"/>
                </a:solidFill>
                <a:latin typeface="Calibri"/>
              </a:rPr>
              <a:t>Monitoring, alerting and AI ops agents at every level — infrastructure to ledger integrity.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98932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8FAEAB"/>
                </a:solidFill>
                <a:latin typeface="Calibri"/>
              </a:rPr>
              <a:t>16 event-driven microservices, one platform. The regulated back half is </a:t>
            </a:r>
            <a:r>
              <a:rPr sz="1250" b="1">
                <a:solidFill>
                  <a:srgbClr val="FF6A3D"/>
                </a:solidFill>
                <a:latin typeface="Calibri"/>
              </a:rPr>
              <a:t>built and hardened today</a:t>
            </a:r>
            <a:r>
              <a:rPr sz="1250" b="0">
                <a:solidFill>
                  <a:srgbClr val="8FAEAB"/>
                </a:solidFill>
                <a:latin typeface="Calibri"/>
              </a:rPr>
              <a:t> — audited money paths, 230+ automated API tests, live-grade Kenya deployment.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7215" y="63550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FAEAB"/>
                </a:solidFill>
                <a:latin typeface="Century Gothic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28066"/>
            <a:ext cx="50292" cy="201168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02920"/>
            <a:ext cx="50292" cy="251460"/>
          </a:xfrm>
          <a:prstGeom prst="roundRect">
            <a:avLst>
              <a:gd name="adj" fmla="val 50000"/>
            </a:avLst>
          </a:prstGeom>
          <a:solidFill>
            <a:srgbClr val="F2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548182"/>
            <a:ext cx="50292" cy="160934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489204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A3D"/>
                </a:solidFill>
                <a:latin typeface="Century Gothic"/>
              </a:rPr>
              <a:t>THE LAST MILE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2F7F5"/>
                </a:solidFill>
                <a:latin typeface="Century Gothic"/>
              </a:rPr>
              <a:t>A bank customers </a:t>
            </a:r>
            <a:r>
              <a:rPr sz="3200" b="1">
                <a:solidFill>
                  <a:srgbClr val="FF6A3D"/>
                </a:solidFill>
                <a:latin typeface="Century Gothic"/>
              </a:rPr>
              <a:t>love to hold.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FAEAB"/>
                </a:solidFill>
                <a:latin typeface="Calibri"/>
              </a:rPr>
              <a:t>White-label and brand-packed per tenant: same platform, each neobank's own name, colours and products. Three moments from the concept design 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71800"/>
            <a:ext cx="3502152" cy="3063240"/>
          </a:xfrm>
          <a:prstGeom prst="roundRect">
            <a:avLst>
              <a:gd name="adj" fmla="val 7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971800"/>
            <a:ext cx="3502152" cy="82296"/>
          </a:xfrm>
          <a:prstGeom prst="roundRect">
            <a:avLst>
              <a:gd name="adj" fmla="val 0"/>
            </a:avLst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3044952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FF6A3D"/>
                </a:solidFill>
                <a:latin typeface="Century Gothic"/>
              </a:rPr>
              <a:t>EVERYDAY MONEY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2F7F5"/>
                </a:solidFill>
                <a:latin typeface="Century Gothic"/>
              </a:rPr>
              <a:t>Home screen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8FAEAB"/>
                </a:solidFill>
                <a:latin typeface="Calibri"/>
              </a:rPr>
              <a:t>·  Balance &amp; accounts up front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8FAEAB"/>
                </a:solidFill>
                <a:latin typeface="Calibri"/>
              </a:rPr>
              <a:t>·  Send · Pay bills · Save · Borrow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8FAEAB"/>
                </a:solidFill>
                <a:latin typeface="Calibri"/>
              </a:rPr>
              <a:t>·  Savings pot with round-up rules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8FAEAB"/>
                </a:solidFill>
                <a:latin typeface="Calibri"/>
              </a:rPr>
              <a:t>·  Mobile-money native top-ups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2971800"/>
            <a:ext cx="3502152" cy="3063240"/>
          </a:xfrm>
          <a:prstGeom prst="roundRect">
            <a:avLst>
              <a:gd name="adj" fmla="val 7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52544" y="2971800"/>
            <a:ext cx="3502152" cy="82296"/>
          </a:xfrm>
          <a:prstGeom prst="roundRect">
            <a:avLst>
              <a:gd name="adj" fmla="val 0"/>
            </a:avLst>
          </a:prstGeom>
          <a:solidFill>
            <a:srgbClr val="F2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3246120"/>
            <a:ext cx="3044952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F2F7F5"/>
                </a:solidFill>
                <a:latin typeface="Century Gothic"/>
              </a:rPr>
              <a:t>VIRTUAL CARDS, DAY ONE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2F7F5"/>
                </a:solidFill>
                <a:latin typeface="Century Gothic"/>
              </a:rPr>
              <a:t>Cards screen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8FAEAB"/>
                </a:solidFill>
                <a:latin typeface="Calibri"/>
              </a:rPr>
              <a:t>·  Virtual card issued at onboarding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8FAEAB"/>
                </a:solidFill>
                <a:latin typeface="Calibri"/>
              </a:rPr>
              <a:t>·  Freeze / unfreeze instantly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8FAEAB"/>
                </a:solidFill>
                <a:latin typeface="Calibri"/>
              </a:rPr>
              <a:t>·  Limits &amp; 3-D Secure controls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8FAEAB"/>
                </a:solidFill>
                <a:latin typeface="Calibri"/>
              </a:rPr>
              <a:t>·  Disputes started in-app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9288" y="2971800"/>
            <a:ext cx="3502152" cy="3063240"/>
          </a:xfrm>
          <a:prstGeom prst="roundRect">
            <a:avLst>
              <a:gd name="adj" fmla="val 7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19288" y="2971800"/>
            <a:ext cx="3502152" cy="82296"/>
          </a:xfrm>
          <a:prstGeom prst="roundRect">
            <a:avLst>
              <a:gd name="adj" fmla="val 0"/>
            </a:avLst>
          </a:prstGeom>
          <a:solidFill>
            <a:srgbClr val="5B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3246120"/>
            <a:ext cx="3044952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5BC4B4"/>
                </a:solidFill>
                <a:latin typeface="Century Gothic"/>
              </a:rPr>
              <a:t>CREDIT-LED GROWTH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2F7F5"/>
                </a:solidFill>
                <a:latin typeface="Century Gothic"/>
              </a:rPr>
              <a:t>Loans screen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8FAEAB"/>
                </a:solidFill>
                <a:latin typeface="Calibri"/>
              </a:rPr>
              <a:t>·  Pre-approved by Nemo AI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8FAEAB"/>
                </a:solidFill>
                <a:latin typeface="Calibri"/>
              </a:rPr>
              <a:t>·  Amount slider, transparent fee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8FAEAB"/>
                </a:solidFill>
                <a:latin typeface="Calibri"/>
              </a:rPr>
              <a:t>·  Decision in seconds, no paperwork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8FAEAB"/>
                </a:solidFill>
                <a:latin typeface="Calibri"/>
              </a:rPr>
              <a:t>·  Every decision logged &amp; explainable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3550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FAEAB"/>
                </a:solidFill>
                <a:latin typeface="Century Gothic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28066"/>
            <a:ext cx="50292" cy="201168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02920"/>
            <a:ext cx="50292" cy="251460"/>
          </a:xfrm>
          <a:prstGeom prst="roundRect">
            <a:avLst>
              <a:gd name="adj" fmla="val 50000"/>
            </a:avLst>
          </a:prstGeom>
          <a:solidFill>
            <a:srgbClr val="F2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548182"/>
            <a:ext cx="50292" cy="160934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489204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A3D"/>
                </a:solidFill>
                <a:latin typeface="Century Gothic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2F7F5"/>
                </a:solidFill>
                <a:latin typeface="Century Gothic"/>
              </a:rPr>
              <a:t>Symbiosis by design: </a:t>
            </a:r>
            <a:r>
              <a:rPr sz="3200" b="1">
                <a:solidFill>
                  <a:srgbClr val="5BC4B4"/>
                </a:solidFill>
                <a:latin typeface="Century Gothic"/>
              </a:rPr>
              <a:t>the clownfish and the anemone.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8FAEAB"/>
                </a:solidFill>
                <a:latin typeface="Calibri"/>
              </a:rPr>
              <a:t>A clownfish thrives inside the anemone's protection; the anemone thrives on what the clownfish brings. The digital bank lives inside a licensed partner's regulatory shelter, and brings it customers, deposits and lending income.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383280"/>
            <a:ext cx="4937760" cy="1691640"/>
          </a:xfrm>
          <a:prstGeom prst="roundRect">
            <a:avLst>
              <a:gd name="adj" fmla="val 6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3584448"/>
            <a:ext cx="4535424" cy="1289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FF6A3D"/>
                </a:solidFill>
                <a:latin typeface="Century Gothic"/>
              </a:rPr>
              <a:t>THE ANEMONE — LICENCE HOLDER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2F7F5"/>
                </a:solidFill>
                <a:latin typeface="Century Gothic"/>
              </a:rPr>
              <a:t>Partner bank / MFI / DCP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8FAEAB"/>
                </a:solidFill>
                <a:latin typeface="Calibri"/>
              </a:rPr>
              <a:t>Holds the licence, the prudential capital and the settlement accounts. Keeps its core of record if it wants.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388620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6A3D"/>
                </a:solidFill>
                <a:latin typeface="Calibri"/>
              </a:rPr>
              <a:t>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3383280"/>
            <a:ext cx="4937760" cy="1691640"/>
          </a:xfrm>
          <a:prstGeom prst="roundRect">
            <a:avLst>
              <a:gd name="adj" fmla="val 6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3584448"/>
            <a:ext cx="4535424" cy="1289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FF6A3D"/>
                </a:solidFill>
                <a:latin typeface="Century Gothic"/>
              </a:rPr>
              <a:t>THE CLOWNFISH — NEMO TENANT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2F7F5"/>
                </a:solidFill>
                <a:latin typeface="Century Gothic"/>
              </a:rPr>
              <a:t>One tenant = one neobank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8FAEAB"/>
                </a:solidFill>
                <a:latin typeface="Calibri"/>
              </a:rPr>
              <a:t>Its own customers, products, ledgers, brand and reports — isolated on a shared platform. One installation runs many banks.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349240"/>
            <a:ext cx="41148" cy="914400"/>
          </a:xfrm>
          <a:prstGeom prst="roundRect">
            <a:avLst>
              <a:gd name="adj" fmla="val 0"/>
            </a:avLst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9496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F2F7F5"/>
                </a:solidFill>
                <a:latin typeface="Calibri"/>
              </a:rPr>
              <a:t>Launching a neobank is configuration, not a project: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8FAEAB"/>
                </a:solidFill>
                <a:latin typeface="Calibri"/>
              </a:rPr>
              <a:t>1 · Provision tenant   →   2 · Pick a market pack (currency, rails, KYC, tax, regulator)   →   3 · Configure products   →   4 · Apply brand pack   →   </a:t>
            </a:r>
            <a:r>
              <a:rPr sz="1250" b="1">
                <a:solidFill>
                  <a:srgbClr val="FF6A3D"/>
                </a:solidFill>
                <a:latin typeface="Calibri"/>
              </a:rPr>
              <a:t>a running, compliant bank.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3550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FAEAB"/>
                </a:solidFill>
                <a:latin typeface="Century Gothic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28066"/>
            <a:ext cx="50292" cy="201168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02920"/>
            <a:ext cx="50292" cy="251460"/>
          </a:xfrm>
          <a:prstGeom prst="roundRect">
            <a:avLst>
              <a:gd name="adj" fmla="val 50000"/>
            </a:avLst>
          </a:prstGeom>
          <a:solidFill>
            <a:srgbClr val="F2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548182"/>
            <a:ext cx="50292" cy="160934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489204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A3D"/>
                </a:solidFill>
                <a:latin typeface="Century Gothic"/>
              </a:rPr>
              <a:t>DEPLOY ANYWHERE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2F7F5"/>
                </a:solidFill>
                <a:latin typeface="Century Gothic"/>
              </a:rPr>
              <a:t>One click to a bank — </a:t>
            </a:r>
            <a:r>
              <a:rPr sz="3200" b="1">
                <a:solidFill>
                  <a:srgbClr val="FF6A3D"/>
                </a:solidFill>
                <a:latin typeface="Century Gothic"/>
              </a:rPr>
              <a:t>on our cloud, your cloud, or your basement.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3502152" cy="2331720"/>
          </a:xfrm>
          <a:prstGeom prst="roundRect">
            <a:avLst>
              <a:gd name="adj" fmla="val 6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944368"/>
            <a:ext cx="3099816" cy="1929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5BC4B4"/>
                </a:solidFill>
                <a:latin typeface="Century Gothic"/>
              </a:rPr>
              <a:t>ONE-COMMAND INSTALL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8FAEAB"/>
                </a:solidFill>
                <a:latin typeface="Calibri"/>
              </a:rPr>
              <a:t>The entire platform — services, databases, event bus, observability — ships as a single Kubernetes package with sane defaults. Sandbox bank in under an hour.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2743200"/>
            <a:ext cx="3502152" cy="2331720"/>
          </a:xfrm>
          <a:prstGeom prst="roundRect">
            <a:avLst>
              <a:gd name="adj" fmla="val 6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2944368"/>
            <a:ext cx="3099816" cy="1929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5BC4B4"/>
                </a:solidFill>
                <a:latin typeface="Century Gothic"/>
              </a:rPr>
              <a:t>ON-PREMISE &amp; AIR-GAPPED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8FAEAB"/>
                </a:solidFill>
                <a:latin typeface="Calibri"/>
              </a:rPr>
              <a:t>Data-residency laws in our markets make on-prem a feature, not a compromise. Offline bundles, licence activation, no phone-home required.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9288" y="2743200"/>
            <a:ext cx="3502152" cy="2331720"/>
          </a:xfrm>
          <a:prstGeom prst="roundRect">
            <a:avLst>
              <a:gd name="adj" fmla="val 6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0456" y="2944368"/>
            <a:ext cx="3099816" cy="1929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5BC4B4"/>
                </a:solidFill>
                <a:latin typeface="Century Gothic"/>
              </a:rPr>
              <a:t>DAY-2 AUTOMATED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8FAEAB"/>
                </a:solidFill>
                <a:latin typeface="Calibri"/>
              </a:rPr>
              <a:t>Zero-downtime upgrades, gated migrations, backups with tested recovery objectives, multi-node HA. Banks don't take maintenance windows.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4864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2F7F5"/>
                </a:solidFill>
                <a:latin typeface="Calibri"/>
              </a:rPr>
              <a:t>Config over code — the iron rule.  </a:t>
            </a:r>
            <a:r>
              <a:rPr sz="1300" b="0">
                <a:solidFill>
                  <a:srgbClr val="8FAEAB"/>
                </a:solidFill>
                <a:latin typeface="Calibri"/>
              </a:rPr>
              <a:t>A new country is a market pack; a new savings product is product-factory data; a new brand is a theme. Nothing a regulator or product manager changes requires an engineer.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3550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FAEAB"/>
                </a:solidFill>
                <a:latin typeface="Century Gothic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28066"/>
            <a:ext cx="50292" cy="201168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02920"/>
            <a:ext cx="50292" cy="251460"/>
          </a:xfrm>
          <a:prstGeom prst="roundRect">
            <a:avLst>
              <a:gd name="adj" fmla="val 50000"/>
            </a:avLst>
          </a:prstGeom>
          <a:solidFill>
            <a:srgbClr val="F2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548182"/>
            <a:ext cx="50292" cy="160934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489204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A3D"/>
                </a:solidFill>
                <a:latin typeface="Century Gothic"/>
              </a:rPr>
              <a:t>AI AT THE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2F7F5"/>
                </a:solidFill>
                <a:latin typeface="Century Gothic"/>
              </a:rPr>
              <a:t>The bank mostly </a:t>
            </a:r>
            <a:r>
              <a:rPr sz="3200" b="1">
                <a:solidFill>
                  <a:srgbClr val="5BC4B4"/>
                </a:solidFill>
                <a:latin typeface="Century Gothic"/>
              </a:rPr>
              <a:t>runs itself.</a:t>
            </a:r>
            <a:r>
              <a:rPr sz="3200" b="1">
                <a:solidFill>
                  <a:srgbClr val="F2F7F5"/>
                </a:solidFill>
                <a:latin typeface="Century Gothic"/>
              </a:rPr>
              <a:t> Humans set policy and review by exception.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651760"/>
            <a:ext cx="5349240" cy="2743200"/>
          </a:xfrm>
          <a:prstGeom prst="roundRect">
            <a:avLst>
              <a:gd name="adj" fmla="val 6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52928"/>
            <a:ext cx="489204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5BC4B4"/>
                </a:solidFill>
                <a:latin typeface="Century Gothic"/>
              </a:rPr>
              <a:t>AI DECIDES THE MONEY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8FAEAB"/>
                </a:solidFill>
                <a:latin typeface="Calibri"/>
              </a:rPr>
              <a:t>·  Straight-through credit — apply → score → disburse, zero human touch in-policy, explainable declines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8FAEAB"/>
                </a:solidFill>
                <a:latin typeface="Calibri"/>
              </a:rPr>
              <a:t>·  Fraud &amp; AML — ML detection, AI triage drafting cases and SARs for officer sign-off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8FAEAB"/>
                </a:solidFill>
                <a:latin typeface="Calibri"/>
              </a:rPr>
              <a:t>·  Collections — risk-based strategy, best time &amp; channel, hardship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651760"/>
            <a:ext cx="5349240" cy="2743200"/>
          </a:xfrm>
          <a:prstGeom prst="roundRect">
            <a:avLst>
              <a:gd name="adj" fmla="val 6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852928"/>
            <a:ext cx="489204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5BC4B4"/>
                </a:solidFill>
                <a:latin typeface="Century Gothic"/>
              </a:rPr>
              <a:t>AI RUNS THE SYSTEM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8FAEAB"/>
                </a:solidFill>
                <a:latin typeface="Calibri"/>
              </a:rPr>
              <a:t>·  Ops agents — watch telemetry &amp; business metrics, diagnose, execute runbooks behind approval gates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8FAEAB"/>
                </a:solidFill>
                <a:latin typeface="Calibri"/>
              </a:rPr>
              <a:t>·  Customer AI — support chat with real banking actions, nudges, churn prediction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8FAEAB"/>
                </a:solidFill>
                <a:latin typeface="Calibri"/>
              </a:rPr>
              <a:t>·  Governed — every model registered, drift-monitored, bias-tested, overridable, kill switch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6692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FAEAB"/>
                </a:solidFill>
                <a:latin typeface="Calibri"/>
              </a:rPr>
              <a:t>One decision engine logs every automated call the bank makes, with its reasons — </a:t>
            </a:r>
            <a:r>
              <a:rPr sz="1300" b="1">
                <a:solidFill>
                  <a:srgbClr val="F2F7F5"/>
                </a:solidFill>
                <a:latin typeface="Calibri"/>
              </a:rPr>
              <a:t>automation a bank's risk committee can sign.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63550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FAEAB"/>
                </a:solidFill>
                <a:latin typeface="Century Gothic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28066"/>
            <a:ext cx="50292" cy="201168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02920"/>
            <a:ext cx="50292" cy="251460"/>
          </a:xfrm>
          <a:prstGeom prst="roundRect">
            <a:avLst>
              <a:gd name="adj" fmla="val 50000"/>
            </a:avLst>
          </a:prstGeom>
          <a:solidFill>
            <a:srgbClr val="F2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548182"/>
            <a:ext cx="50292" cy="160934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489204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A3D"/>
                </a:solidFill>
                <a:latin typeface="Century Gothic"/>
              </a:rPr>
              <a:t>WHY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2F7F5"/>
                </a:solidFill>
                <a:latin typeface="Century Gothic"/>
              </a:rPr>
              <a:t>We're not starting — </a:t>
            </a:r>
            <a:r>
              <a:rPr sz="3200" b="1">
                <a:solidFill>
                  <a:srgbClr val="FF6A3D"/>
                </a:solidFill>
                <a:latin typeface="Century Gothic"/>
              </a:rPr>
              <a:t>the hard half is built.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8FAEAB"/>
                </a:solidFill>
                <a:latin typeface="Calibri"/>
              </a:rPr>
              <a:t>Most neobank stacks begin with the app and hit the wall at the ledger. Nemo grew the other way: it began as a bank-grade lending &amp; deposits platform under a real regulator, and the app is the last mile.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29184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3493008"/>
            <a:ext cx="2203704" cy="1563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2F7F5"/>
                </a:solidFill>
                <a:latin typeface="Century Gothic"/>
              </a:rPr>
              <a:t>16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8FAEAB"/>
                </a:solidFill>
                <a:latin typeface="Calibri"/>
              </a:rPr>
              <a:t>event-driven microservices, one Go monorepo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329184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48456" y="3493008"/>
            <a:ext cx="2203704" cy="1563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2F7F5"/>
                </a:solidFill>
                <a:latin typeface="Century Gothic"/>
              </a:rPr>
              <a:t>2×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8FAEAB"/>
                </a:solidFill>
                <a:latin typeface="Calibri"/>
              </a:rPr>
              <a:t>entry accounting — every shilling balanced, IFRS 9 provisioned, audit-trailed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329184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3493008"/>
            <a:ext cx="2203704" cy="1563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2F7F5"/>
                </a:solidFill>
                <a:latin typeface="Century Gothic"/>
              </a:rPr>
              <a:t>230+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8FAEAB"/>
                </a:solidFill>
                <a:latin typeface="Calibri"/>
              </a:rPr>
              <a:t>automated API tests over the money paths, plus UI test suites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0264" y="329184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71432" y="3493008"/>
            <a:ext cx="2203704" cy="1563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2F7F5"/>
                </a:solidFill>
                <a:latin typeface="Century Gothic"/>
              </a:rPr>
              <a:t>1st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8FAEAB"/>
                </a:solidFill>
                <a:latin typeface="Calibri"/>
              </a:rPr>
              <a:t>market live-grade: Kenya — CBK &amp; credit-bureau reporting built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62356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8FAEAB"/>
                </a:solidFill>
                <a:latin typeface="Calibri"/>
              </a:rPr>
              <a:t>Battle scars included: hardened through functional and go-live audits of the money paths — idempotent events, tenant isolation, maker-checker controls. </a:t>
            </a:r>
            <a:r>
              <a:rPr sz="1250" b="1">
                <a:solidFill>
                  <a:srgbClr val="F2F7F5"/>
                </a:solidFill>
                <a:latin typeface="Calibri"/>
              </a:rPr>
              <a:t>That discipline is the product.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3550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FAEAB"/>
                </a:solidFill>
                <a:latin typeface="Century Gothic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28066"/>
            <a:ext cx="50292" cy="201168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02920"/>
            <a:ext cx="50292" cy="251460"/>
          </a:xfrm>
          <a:prstGeom prst="roundRect">
            <a:avLst>
              <a:gd name="adj" fmla="val 50000"/>
            </a:avLst>
          </a:prstGeom>
          <a:solidFill>
            <a:srgbClr val="F2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548182"/>
            <a:ext cx="50292" cy="160934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489204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A3D"/>
                </a:solidFill>
                <a:latin typeface="Century Gothic"/>
              </a:rPr>
              <a:t>THE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2F7F5"/>
                </a:solidFill>
                <a:latin typeface="Century Gothic"/>
              </a:rPr>
              <a:t>Where banking is </a:t>
            </a:r>
            <a:r>
              <a:rPr sz="3200" b="1">
                <a:solidFill>
                  <a:srgbClr val="5BC4B4"/>
                </a:solidFill>
                <a:latin typeface="Century Gothic"/>
              </a:rPr>
              <a:t>mobile-first and underserved.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68880"/>
            <a:ext cx="3502152" cy="2011680"/>
          </a:xfrm>
          <a:prstGeom prst="roundRect">
            <a:avLst>
              <a:gd name="adj" fmla="val 6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670048"/>
            <a:ext cx="3099816" cy="1609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2F7F5"/>
                </a:solidFill>
                <a:latin typeface="Century Gothic"/>
              </a:rPr>
              <a:t>~1.4B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8FAEAB"/>
                </a:solidFill>
                <a:latin typeface="Calibri"/>
              </a:rPr>
              <a:t>adults worldwide still unbanked — concentrated in our target band</a:t>
            </a:r>
          </a:p>
          <a:p>
            <a:pPr algn="l">
              <a:spcAft>
                <a:spcPts val="600"/>
              </a:spcAft>
            </a:pPr>
            <a:r>
              <a:rPr sz="900" b="0">
                <a:solidFill>
                  <a:srgbClr val="8FAEAB"/>
                </a:solidFill>
                <a:latin typeface="Calibri"/>
              </a:rPr>
              <a:t>World Bank Findex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2468880"/>
            <a:ext cx="3502152" cy="2011680"/>
          </a:xfrm>
          <a:prstGeom prst="roundRect">
            <a:avLst>
              <a:gd name="adj" fmla="val 6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2670048"/>
            <a:ext cx="3099816" cy="1609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2F7F5"/>
                </a:solidFill>
                <a:latin typeface="Century Gothic"/>
              </a:rPr>
              <a:t>$1T+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8FAEAB"/>
                </a:solidFill>
                <a:latin typeface="Calibri"/>
              </a:rPr>
              <a:t>annual mobile-money transaction value, majority in Sub-Saharan Africa</a:t>
            </a:r>
          </a:p>
          <a:p>
            <a:pPr algn="l">
              <a:spcAft>
                <a:spcPts val="600"/>
              </a:spcAft>
            </a:pPr>
            <a:r>
              <a:rPr sz="900" b="0">
                <a:solidFill>
                  <a:srgbClr val="8FAEAB"/>
                </a:solidFill>
                <a:latin typeface="Calibri"/>
              </a:rPr>
              <a:t>GSMA State of the Industry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9288" y="2468880"/>
            <a:ext cx="3502152" cy="2011680"/>
          </a:xfrm>
          <a:prstGeom prst="roundRect">
            <a:avLst>
              <a:gd name="adj" fmla="val 6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0456" y="2670048"/>
            <a:ext cx="3099816" cy="1609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2F7F5"/>
                </a:solidFill>
                <a:latin typeface="Century Gothic"/>
              </a:rPr>
              <a:t>6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8FAEAB"/>
                </a:solidFill>
                <a:latin typeface="Calibri"/>
              </a:rPr>
              <a:t>markets already validated for the credit-led model by the reference operator</a:t>
            </a:r>
          </a:p>
          <a:p>
            <a:pPr algn="l">
              <a:spcAft>
                <a:spcPts val="600"/>
              </a:spcAft>
            </a:pPr>
            <a:r>
              <a:rPr sz="900" b="0">
                <a:solidFill>
                  <a:srgbClr val="8FAEAB"/>
                </a:solidFill>
                <a:latin typeface="Calibri"/>
              </a:rPr>
              <a:t>fintech-farm.com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00600"/>
            <a:ext cx="10789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F2F7F5"/>
                </a:solidFill>
                <a:latin typeface="Calibri"/>
              </a:rPr>
              <a:t>Beachhead: East Africa.  </a:t>
            </a:r>
            <a:r>
              <a:rPr sz="1300" b="0">
                <a:solidFill>
                  <a:srgbClr val="8FAEAB"/>
                </a:solidFill>
                <a:latin typeface="Calibri"/>
              </a:rPr>
              <a:t>Kenya is live-grade today; Ethiopia — 120M people just opening to digital finance — is the first market-pack expansion. Then the proven emerging-market band: West Africa, MENA, Central &amp; Southeast Asia.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2F7F5"/>
                </a:solidFill>
                <a:latin typeface="Calibri"/>
              </a:rPr>
              <a:t>Buyers:  </a:t>
            </a:r>
            <a:r>
              <a:rPr sz="1300" b="0">
                <a:solidFill>
                  <a:srgbClr val="8FAEAB"/>
                </a:solidFill>
                <a:latin typeface="Calibri"/>
              </a:rPr>
              <a:t>tier-2/3 banks going digital · MFIs and digital credit providers upgrading to bank-grade · licensed fintechs &amp; telcos · neobank venture operators who want the box without building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3550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FAEAB"/>
                </a:solidFill>
                <a:latin typeface="Century Gothic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28066"/>
            <a:ext cx="50292" cy="201168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02920"/>
            <a:ext cx="50292" cy="251460"/>
          </a:xfrm>
          <a:prstGeom prst="roundRect">
            <a:avLst>
              <a:gd name="adj" fmla="val 50000"/>
            </a:avLst>
          </a:prstGeom>
          <a:solidFill>
            <a:srgbClr val="F2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548182"/>
            <a:ext cx="50292" cy="160934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489204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A3D"/>
                </a:solidFill>
                <a:latin typeface="Century Gothic"/>
              </a:rPr>
              <a:t>BUSINESS MODEL &amp;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2F7F5"/>
                </a:solidFill>
                <a:latin typeface="Century Gothic"/>
              </a:rPr>
              <a:t>Licence the box. </a:t>
            </a:r>
            <a:r>
              <a:rPr sz="3200" b="1">
                <a:solidFill>
                  <a:srgbClr val="FF6A3D"/>
                </a:solidFill>
                <a:latin typeface="Century Gothic"/>
              </a:rPr>
              <a:t>Share the upside.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FAEAB"/>
                </a:solidFill>
                <a:latin typeface="Calibri"/>
              </a:rPr>
              <a:t>Per-tenant platform licence (cloud subscription or on-prem term), metered by active customers and modules — with an optional revenue-share on lending income that aligns us with the operator.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3017520"/>
          <a:ext cx="107899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920240"/>
                <a:gridCol w="1920240"/>
                <a:gridCol w="1920240"/>
                <a:gridCol w="1920240"/>
              </a:tblGrid>
              <a:tr h="4724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5BC4B4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>
                    <a:solidFill>
                      <a:srgbClr val="0C35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5BC4B4"/>
                          </a:solidFill>
                          <a:latin typeface="Century Gothic"/>
                        </a:rPr>
                        <a:t>Nemo</a:t>
                      </a:r>
                    </a:p>
                  </a:txBody>
                  <a:tcPr>
                    <a:solidFill>
                      <a:srgbClr val="0C35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5BC4B4"/>
                          </a:solidFill>
                          <a:latin typeface="Century Gothic"/>
                        </a:rPr>
                        <a:t>Fintech Farm</a:t>
                      </a:r>
                    </a:p>
                  </a:txBody>
                  <a:tcPr>
                    <a:solidFill>
                      <a:srgbClr val="0C35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5BC4B4"/>
                          </a:solidFill>
                          <a:latin typeface="Century Gothic"/>
                        </a:rPr>
                        <a:t>SaaS cores</a:t>
                      </a:r>
                    </a:p>
                  </a:txBody>
                  <a:tcPr>
                    <a:solidFill>
                      <a:srgbClr val="0C35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5BC4B4"/>
                          </a:solidFill>
                          <a:latin typeface="Century Gothic"/>
                        </a:rPr>
                        <a:t>Legacy cores</a:t>
                      </a:r>
                    </a:p>
                  </a:txBody>
                  <a:tcPr>
                    <a:solidFill>
                      <a:srgbClr val="0C3541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2F7F5"/>
                          </a:solidFill>
                          <a:latin typeface="Calibri"/>
                        </a:rPr>
                        <a:t>Full stack incl. consumer app</a:t>
                      </a:r>
                    </a:p>
                  </a:txBody>
                  <a:tcPr>
                    <a:solidFill>
                      <a:srgbClr val="0622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6A3D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>
                    <a:solidFill>
                      <a:srgbClr val="104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8FAEAB"/>
                          </a:solidFill>
                          <a:latin typeface="Calibri"/>
                        </a:rPr>
                        <a:t>✔ self-operated only</a:t>
                      </a:r>
                    </a:p>
                  </a:txBody>
                  <a:tcPr>
                    <a:solidFill>
                      <a:srgbClr val="0622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8FAEAB"/>
                          </a:solidFill>
                          <a:latin typeface="Calibri"/>
                        </a:rPr>
                        <a:t>✖ core only + SI</a:t>
                      </a:r>
                    </a:p>
                  </a:txBody>
                  <a:tcPr>
                    <a:solidFill>
                      <a:srgbClr val="0622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8FAEAB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06222B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2F7F5"/>
                          </a:solidFill>
                          <a:latin typeface="Calibri"/>
                        </a:rPr>
                        <a:t>On-premise / data residency</a:t>
                      </a:r>
                    </a:p>
                  </a:txBody>
                  <a:tcPr>
                    <a:solidFill>
                      <a:srgbClr val="0622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6A3D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>
                    <a:solidFill>
                      <a:srgbClr val="104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8FAEAB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>
                    <a:solidFill>
                      <a:srgbClr val="0622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8FAEAB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>
                    <a:solidFill>
                      <a:srgbClr val="0622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8FAEAB"/>
                          </a:solidFill>
                          <a:latin typeface="Calibri"/>
                        </a:rPr>
                        <a:t>✔ heavy</a:t>
                      </a:r>
                    </a:p>
                  </a:txBody>
                  <a:tcPr>
                    <a:solidFill>
                      <a:srgbClr val="06222B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2F7F5"/>
                          </a:solidFill>
                          <a:latin typeface="Calibri"/>
                        </a:rPr>
                        <a:t>Time to launch</a:t>
                      </a:r>
                    </a:p>
                  </a:txBody>
                  <a:tcPr>
                    <a:solidFill>
                      <a:srgbClr val="0622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6A3D"/>
                          </a:solidFill>
                          <a:latin typeface="Calibri"/>
                        </a:rPr>
                        <a:t>days–weeks</a:t>
                      </a:r>
                    </a:p>
                  </a:txBody>
                  <a:tcPr>
                    <a:solidFill>
                      <a:srgbClr val="104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8FAEAB"/>
                          </a:solidFill>
                          <a:latin typeface="Calibri"/>
                        </a:rPr>
                        <a:t>months, theirs to run</a:t>
                      </a:r>
                    </a:p>
                  </a:txBody>
                  <a:tcPr>
                    <a:solidFill>
                      <a:srgbClr val="0622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8FAEAB"/>
                          </a:solidFill>
                          <a:latin typeface="Calibri"/>
                        </a:rPr>
                        <a:t>6–18 months</a:t>
                      </a:r>
                    </a:p>
                  </a:txBody>
                  <a:tcPr>
                    <a:solidFill>
                      <a:srgbClr val="0622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8FAEAB"/>
                          </a:solidFill>
                          <a:latin typeface="Calibri"/>
                        </a:rPr>
                        <a:t>18 months+</a:t>
                      </a:r>
                    </a:p>
                  </a:txBody>
                  <a:tcPr>
                    <a:solidFill>
                      <a:srgbClr val="06222B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2F7F5"/>
                          </a:solidFill>
                          <a:latin typeface="Calibri"/>
                        </a:rPr>
                        <a:t>AI-native operations</a:t>
                      </a:r>
                    </a:p>
                  </a:txBody>
                  <a:tcPr>
                    <a:solidFill>
                      <a:srgbClr val="0622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6A3D"/>
                          </a:solidFill>
                          <a:latin typeface="Calibri"/>
                        </a:rPr>
                        <a:t>✔ core design</a:t>
                      </a:r>
                    </a:p>
                  </a:txBody>
                  <a:tcPr>
                    <a:solidFill>
                      <a:srgbClr val="104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8FAEAB"/>
                          </a:solidFill>
                          <a:latin typeface="Calibri"/>
                        </a:rPr>
                        <a:t>credit only</a:t>
                      </a:r>
                    </a:p>
                  </a:txBody>
                  <a:tcPr>
                    <a:solidFill>
                      <a:srgbClr val="0622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8FAEAB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>
                    <a:solidFill>
                      <a:srgbClr val="0622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8FAEAB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>
                    <a:solidFill>
                      <a:srgbClr val="06222B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2F7F5"/>
                          </a:solidFill>
                          <a:latin typeface="Calibri"/>
                        </a:rPr>
                        <a:t>Emerging-market packs</a:t>
                      </a:r>
                    </a:p>
                  </a:txBody>
                  <a:tcPr>
                    <a:solidFill>
                      <a:srgbClr val="0622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6A3D"/>
                          </a:solidFill>
                          <a:latin typeface="Calibri"/>
                        </a:rPr>
                        <a:t>✔ built in</a:t>
                      </a:r>
                    </a:p>
                  </a:txBody>
                  <a:tcPr>
                    <a:solidFill>
                      <a:srgbClr val="104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8FAEAB"/>
                          </a:solidFill>
                          <a:latin typeface="Calibri"/>
                        </a:rPr>
                        <a:t>✔ bespoke</a:t>
                      </a:r>
                    </a:p>
                  </a:txBody>
                  <a:tcPr>
                    <a:solidFill>
                      <a:srgbClr val="0622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8FAEAB"/>
                          </a:solidFill>
                          <a:latin typeface="Calibri"/>
                        </a:rPr>
                        <a:t>per-project</a:t>
                      </a:r>
                    </a:p>
                  </a:txBody>
                  <a:tcPr>
                    <a:solidFill>
                      <a:srgbClr val="0622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8FAEAB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>
                    <a:solidFill>
                      <a:srgbClr val="06222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1264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2F7F5"/>
                </a:solidFill>
                <a:latin typeface="Calibri"/>
              </a:rPr>
              <a:t>The wedge: </a:t>
            </a:r>
            <a:r>
              <a:rPr sz="1250" b="0">
                <a:solidFill>
                  <a:srgbClr val="8FAEAB"/>
                </a:solidFill>
                <a:latin typeface="Calibri"/>
              </a:rPr>
              <a:t>the only neobank-complete platform an emerging-market operator can run themselves, on their own infrastructure, with AI doing the operational heavy lifting.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37215" y="63550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FAEAB"/>
                </a:solidFill>
                <a:latin typeface="Century Gothic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28066"/>
            <a:ext cx="50292" cy="201168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02920"/>
            <a:ext cx="50292" cy="251460"/>
          </a:xfrm>
          <a:prstGeom prst="roundRect">
            <a:avLst>
              <a:gd name="adj" fmla="val 50000"/>
            </a:avLst>
          </a:prstGeom>
          <a:solidFill>
            <a:srgbClr val="F2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548182"/>
            <a:ext cx="50292" cy="160934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489204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A3D"/>
                </a:solidFill>
                <a:latin typeface="Century Gothic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2F7F5"/>
                </a:solidFill>
                <a:latin typeface="Century Gothic"/>
              </a:rPr>
              <a:t>Package it. Show it. </a:t>
            </a:r>
            <a:r>
              <a:rPr sz="3200" b="1">
                <a:solidFill>
                  <a:srgbClr val="5BC4B4"/>
                </a:solidFill>
                <a:latin typeface="Century Gothic"/>
              </a:rPr>
              <a:t>Let it run itself.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77440"/>
            <a:ext cx="3502152" cy="3429000"/>
          </a:xfrm>
          <a:prstGeom prst="roundRect">
            <a:avLst>
              <a:gd name="adj" fmla="val 5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377440"/>
            <a:ext cx="3502152" cy="73152"/>
          </a:xfrm>
          <a:prstGeom prst="roundRect">
            <a:avLst>
              <a:gd name="adj" fmla="val 0"/>
            </a:avLst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06040"/>
            <a:ext cx="3099816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8FAEAB"/>
                </a:solidFill>
                <a:latin typeface="Century Gothic"/>
              </a:rPr>
              <a:t>PHASE 1 · THIS QUARTER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F2F7F5"/>
                </a:solidFill>
                <a:latin typeface="Century Gothic"/>
              </a:rPr>
              <a:t>Package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8FAEAB"/>
                </a:solidFill>
                <a:latin typeface="Calibri"/>
              </a:rPr>
              <a:t>·  One-command Kubernetes install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8FAEAB"/>
                </a:solidFill>
                <a:latin typeface="Calibri"/>
              </a:rPr>
              <a:t>·  Tenant provisioning: create-neobank end-to-end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8FAEAB"/>
                </a:solidFill>
                <a:latin typeface="Calibri"/>
              </a:rPr>
              <a:t>·  Market packs — Kenya extracted as pack #1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8FAEAB"/>
                </a:solidFill>
                <a:latin typeface="Calibri"/>
              </a:rPr>
              <a:t>·  Observability: tracing, business alerting, SLOs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8FAEAB"/>
                </a:solidFill>
                <a:latin typeface="Calibri"/>
              </a:rPr>
              <a:t>·  Self-service eKYC onboarding APIs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8FAEAB"/>
                </a:solidFill>
                <a:latin typeface="Calibri"/>
              </a:rPr>
              <a:t>·  Explainable decision engine v1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377440"/>
            <a:ext cx="3502152" cy="3429000"/>
          </a:xfrm>
          <a:prstGeom prst="roundRect">
            <a:avLst>
              <a:gd name="adj" fmla="val 5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52544" y="2377440"/>
            <a:ext cx="3502152" cy="73152"/>
          </a:xfrm>
          <a:prstGeom prst="roundRect">
            <a:avLst>
              <a:gd name="adj" fmla="val 0"/>
            </a:avLst>
          </a:prstGeom>
          <a:solidFill>
            <a:srgbClr val="F2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606040"/>
            <a:ext cx="3099816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8FAEAB"/>
                </a:solidFill>
                <a:latin typeface="Century Gothic"/>
              </a:rPr>
              <a:t>PHASE 2 · QUARTERS 2–3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F2F7F5"/>
                </a:solidFill>
                <a:latin typeface="Century Gothic"/>
              </a:rPr>
              <a:t>The visible neobank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8FAEAB"/>
                </a:solidFill>
                <a:latin typeface="Calibri"/>
              </a:rPr>
              <a:t>·  White-label customer app: accounts, P2P, bills, loans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8FAEAB"/>
                </a:solidFill>
                <a:latin typeface="Calibri"/>
              </a:rPr>
              <a:t>·  Virtual cards via issuer processor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8FAEAB"/>
                </a:solidFill>
                <a:latin typeface="Calibri"/>
              </a:rPr>
              <a:t>·  Savings pots, scheduled payments, deposit lifecycle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8FAEAB"/>
                </a:solidFill>
                <a:latin typeface="Calibri"/>
              </a:rPr>
              <a:t>·  Reconciliation engine across all rails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8FAEAB"/>
                </a:solidFill>
                <a:latin typeface="Calibri"/>
              </a:rPr>
              <a:t>·  Straight-through credit + model governance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8FAEAB"/>
                </a:solidFill>
                <a:latin typeface="Calibri"/>
              </a:rPr>
              <a:t>·  On-prem installer, zero-downtime upgrades, HA/DR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9288" y="2377440"/>
            <a:ext cx="3502152" cy="3429000"/>
          </a:xfrm>
          <a:prstGeom prst="roundRect">
            <a:avLst>
              <a:gd name="adj" fmla="val 5000"/>
            </a:avLst>
          </a:prstGeom>
          <a:solidFill>
            <a:srgbClr val="0C3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19288" y="2377440"/>
            <a:ext cx="3502152" cy="73152"/>
          </a:xfrm>
          <a:prstGeom prst="roundRect">
            <a:avLst>
              <a:gd name="adj" fmla="val 0"/>
            </a:avLst>
          </a:prstGeom>
          <a:solidFill>
            <a:srgbClr val="5B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2606040"/>
            <a:ext cx="3099816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8FAEAB"/>
                </a:solidFill>
                <a:latin typeface="Century Gothic"/>
              </a:rPr>
              <a:t>PHASE 3 · QUARTER 4+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F2F7F5"/>
                </a:solidFill>
                <a:latin typeface="Century Gothic"/>
              </a:rPr>
              <a:t>AI-operated &amp; ecosystem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8FAEAB"/>
                </a:solidFill>
                <a:latin typeface="Calibri"/>
              </a:rPr>
              <a:t>·  Ops agents: diagnose &amp; remediate behind gates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8FAEAB"/>
                </a:solidFill>
                <a:latin typeface="Calibri"/>
              </a:rPr>
              <a:t>·  AI collections, AML copilot, customer AI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8FAEAB"/>
                </a:solidFill>
                <a:latin typeface="Calibri"/>
              </a:rPr>
              <a:t>·  USSD + agent network channel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8FAEAB"/>
                </a:solidFill>
                <a:latin typeface="Calibri"/>
              </a:rPr>
              <a:t>·  Market pack #2: Ethiopia — config-over-code proven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8FAEAB"/>
                </a:solidFill>
                <a:latin typeface="Calibri"/>
              </a:rPr>
              <a:t>·  Public API platform &amp; developer portal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8FAEAB"/>
                </a:solidFill>
                <a:latin typeface="Calibri"/>
              </a:rPr>
              <a:t>·  Tenant metering &amp; platform billing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03504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FAEAB"/>
                </a:solidFill>
                <a:latin typeface="Calibri"/>
              </a:rPr>
              <a:t>Standing tracks: money-path audits · security posture · PCI-DSS → ISO 27001 → SOC 2 certification programme.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3550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FAEAB"/>
                </a:solidFill>
                <a:latin typeface="Century Gothic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1396746"/>
            <a:ext cx="50292" cy="201168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1371600"/>
            <a:ext cx="50292" cy="251460"/>
          </a:xfrm>
          <a:prstGeom prst="roundRect">
            <a:avLst>
              <a:gd name="adj" fmla="val 50000"/>
            </a:avLst>
          </a:prstGeom>
          <a:solidFill>
            <a:srgbClr val="F2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1416862"/>
            <a:ext cx="50292" cy="160934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357884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A3D"/>
                </a:solidFill>
                <a:latin typeface="Century Gothic"/>
              </a:rPr>
              <a:t>NEMO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02412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2F7F5"/>
                </a:solidFill>
                <a:latin typeface="Century Gothic"/>
              </a:rPr>
              <a:t>Every market that needs a bank should be </a:t>
            </a:r>
            <a:r>
              <a:rPr sz="4000" b="1">
                <a:solidFill>
                  <a:srgbClr val="FF6A3D"/>
                </a:solidFill>
                <a:latin typeface="Century Gothic"/>
              </a:rPr>
              <a:t>one click away</a:t>
            </a:r>
            <a:r>
              <a:rPr sz="4000" b="1">
                <a:solidFill>
                  <a:srgbClr val="F2F7F5"/>
                </a:solidFill>
                <a:latin typeface="Century Gothic"/>
              </a:rPr>
              <a:t> from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2062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8FAEAB"/>
                </a:solidFill>
                <a:latin typeface="Calibri"/>
              </a:rPr>
              <a:t>The regulated core is built. The model is proven. What remains is packaging and the last mile to the customer's hand — and that is exactly what the next three quarters deliver.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760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FAEAB"/>
                </a:solidFill>
                <a:latin typeface="Century Gothic"/>
              </a:rPr>
              <a:t>NEMO · NEOBANK IN A BOX          NAIROBI ·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FAEAB"/>
                </a:solidFill>
                <a:latin typeface="Century Gothic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